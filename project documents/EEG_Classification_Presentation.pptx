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199" y="1097280"/>
            <a:ext cx="98710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</a:rPr>
              <a:t>EEG-Based Classification of
Alzheimer's Disease &amp; FTD</a:t>
            </a:r>
            <a:endParaRPr lang="tr-TR" sz="3600" b="1" i="0" dirty="0">
              <a:solidFill>
                <a:srgbClr val="FFFFFF"/>
              </a:solidFill>
            </a:endParaRPr>
          </a:p>
          <a:p>
            <a:r>
              <a:rPr lang="en-US" sz="3600" b="1" dirty="0">
                <a:solidFill>
                  <a:srgbClr val="FFFFFF"/>
                </a:solidFill>
              </a:rPr>
              <a:t>Using Hand-Crafted Features and Deep Learning</a:t>
            </a:r>
          </a:p>
          <a:p>
            <a:pPr algn="l"/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Ammar Omar  ·  Oğuzhan Memiş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Yildiz Technical University  |  BME5013 Biomedical Signal Processing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55M+ people live with dementia worldwide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Alzheimer's Disease (AD): 60–70% of all dementia cases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Frontotemporal Dementia (FTD): #2 young-onset subtype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AD vs FTD: overlapping early symptoms → misdiagnosis common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19" y="1005840"/>
            <a:ext cx="45719" cy="267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Why EEG?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Non-invasive &amp; low cost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High temporal resolution (ms-level)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Captures cortical oscillation changes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AD: ↑ δ/θ power, ↓ α/β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FTD: frontal θ elevation, preserved 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412" y="634167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D600"/>
                </a:solidFill>
              </a:rPr>
              <a:t>Goal: Automatic 3-class separation  AD / FTD / HC  from resting-state EEG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578DBD-F3F2-6EFA-17DC-782DF5626C9A}"/>
              </a:ext>
            </a:extLst>
          </p:cNvPr>
          <p:cNvGrpSpPr/>
          <p:nvPr/>
        </p:nvGrpSpPr>
        <p:grpSpPr>
          <a:xfrm>
            <a:off x="1254760" y="4297680"/>
            <a:ext cx="2560320" cy="1645920"/>
            <a:chOff x="914400" y="4572000"/>
            <a:chExt cx="2560320" cy="1645920"/>
          </a:xfrm>
        </p:grpSpPr>
        <p:sp>
          <p:nvSpPr>
            <p:cNvPr id="9" name="Rectangle 8"/>
            <p:cNvSpPr/>
            <p:nvPr/>
          </p:nvSpPr>
          <p:spPr>
            <a:xfrm>
              <a:off x="914400" y="4572000"/>
              <a:ext cx="2560320" cy="1645920"/>
            </a:xfrm>
            <a:prstGeom prst="rect">
              <a:avLst/>
            </a:prstGeom>
            <a:solidFill>
              <a:srgbClr val="FF496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4663440"/>
              <a:ext cx="256032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14400" y="5440680"/>
              <a:ext cx="25603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D1B2A"/>
                  </a:solidFill>
                </a:rPr>
                <a:t>AD subjects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E6B5E3-5472-A60A-3474-E3F8F99BDC1E}"/>
              </a:ext>
            </a:extLst>
          </p:cNvPr>
          <p:cNvGrpSpPr/>
          <p:nvPr/>
        </p:nvGrpSpPr>
        <p:grpSpPr>
          <a:xfrm>
            <a:off x="5120640" y="4297680"/>
            <a:ext cx="2560320" cy="1645920"/>
            <a:chOff x="4114800" y="4572000"/>
            <a:chExt cx="2560320" cy="1645920"/>
          </a:xfrm>
        </p:grpSpPr>
        <p:sp>
          <p:nvSpPr>
            <p:cNvPr id="12" name="Rectangle 11"/>
            <p:cNvSpPr/>
            <p:nvPr/>
          </p:nvSpPr>
          <p:spPr>
            <a:xfrm>
              <a:off x="4114800" y="4572000"/>
              <a:ext cx="2560320" cy="164592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14800" y="4663440"/>
              <a:ext cx="256032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</a:rPr>
                <a:t>23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14800" y="5440680"/>
              <a:ext cx="25603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D1B2A"/>
                  </a:solidFill>
                </a:rPr>
                <a:t>FTD subjects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B3AA0F-07A7-C509-F4A3-6ACD7F9BCC06}"/>
              </a:ext>
            </a:extLst>
          </p:cNvPr>
          <p:cNvGrpSpPr/>
          <p:nvPr/>
        </p:nvGrpSpPr>
        <p:grpSpPr>
          <a:xfrm>
            <a:off x="8986520" y="4297680"/>
            <a:ext cx="2560320" cy="1645920"/>
            <a:chOff x="7315200" y="4572000"/>
            <a:chExt cx="2560320" cy="1645920"/>
          </a:xfrm>
        </p:grpSpPr>
        <p:sp>
          <p:nvSpPr>
            <p:cNvPr id="15" name="Rectangle 14"/>
            <p:cNvSpPr/>
            <p:nvPr/>
          </p:nvSpPr>
          <p:spPr>
            <a:xfrm>
              <a:off x="7315200" y="4572000"/>
              <a:ext cx="2560320" cy="1645920"/>
            </a:xfrm>
            <a:prstGeom prst="rect">
              <a:avLst/>
            </a:prstGeom>
            <a:solidFill>
              <a:srgbClr val="06D6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15200" y="4663440"/>
              <a:ext cx="256032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15200" y="5440680"/>
              <a:ext cx="25603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D1B2A"/>
                  </a:solidFill>
                </a:rPr>
                <a:t>HC subjects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Dataset — OpenNeuro ds004504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88 subjects: 36 AD · 23 FTD · 29 HC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19 channels, 500 Hz, eyes-closed resting state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Pre-processing: BPF 0.5–45 Hz → ASR → ICA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Duration: ~3 to 10+ min per subject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Signal scaled to 0.1 mV range (≈ ±150 µV)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Fig 1. EDA — sub-001 (AD), channel F4: time series · Welch PSD · CWT scalogram · STFT spectrogram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F8666-718B-1B89-4B0F-35ADD5CE0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34962"/>
            <a:ext cx="6793865" cy="60230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Band-Power Topography Maps</a:t>
            </a:r>
          </a:p>
        </p:txBody>
      </p:sp>
      <p:pic>
        <p:nvPicPr>
          <p:cNvPr id="3" name="Picture 2" descr="topomap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7724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554480"/>
            <a:ext cx="3749039" cy="5943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162763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96B"/>
                </a:solidFill>
              </a:rPr>
              <a:t>AD:  ↑ δ/θ posterior,  ↓↓ α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286000"/>
            <a:ext cx="3749039" cy="5943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359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FTD:  ↑ frontal θ,  α preserved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017520"/>
            <a:ext cx="3749039" cy="5943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0906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HC:  dominant occipital 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40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Grand-mean normalised Welch PSD across all 88 subjects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Data Split &amp; Leakage Prevention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383280" cy="2011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38328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D6A0"/>
                </a:solidFill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~62 subjects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383280" cy="2011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383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~9 subjects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383280" cy="201168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383280" cy="411480"/>
          </a:xfrm>
          <a:prstGeom prst="rect">
            <a:avLst/>
          </a:prstGeom>
          <a:solidFill>
            <a:srgbClr val="FF4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496B"/>
                </a:solidFill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23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~17 subjects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</a:rPr>
              <a:t>• All segments of one subject → same partition only (no leakage)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Runtime assertion: Train ∩ Val ∩ Test = ∅  (halts if violated)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Class weights: w_c = N_total / (3 × N_c)  to handle imbalance</a:t>
            </a:r>
          </a:p>
          <a:p>
            <a:pPr algn="l"/>
            <a:r>
              <a:rPr sz="1800">
                <a:solidFill>
                  <a:srgbClr val="FFFFFF"/>
                </a:solidFill>
              </a:rPr>
              <a:t>• Segment shuffle with random_state = 42 for 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D600"/>
                </a:solidFill>
              </a:rPr>
              <a:t>  Most literature uses LOSOCV — our held-out split is stricter and more conservative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Pipeline 1 — Hand-Crafted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976690"/>
              </p:ext>
            </p:extLst>
          </p:nvPr>
        </p:nvGraphicFramePr>
        <p:xfrm>
          <a:off x="2560320" y="987792"/>
          <a:ext cx="6858000" cy="3378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137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D1B2A"/>
                          </a:solidFill>
                        </a:rPr>
                        <a:t>Feature Group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D1B2A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D1B2A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Time-domain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Hjorth, entropy, ZCR, kurtosis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Frequency-domain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Band powers δ/θ/α/β, centroid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DWT (db4, 5-level)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Sub-band energy, wavelet entropy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137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× 19 channels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= 1,121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137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Inter-ch. coherence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684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FFFFFF"/>
                          </a:solidFill>
                        </a:rPr>
                        <a:t>171 pairs × 4 bands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137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TOTAL / epoch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</a:rPr>
                        <a:t>1,805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65760" y="4480560"/>
            <a:ext cx="2011680" cy="11887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45262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1,805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4480560"/>
            <a:ext cx="2011680" cy="11887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97480" y="45262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CCCC"/>
                </a:solidFill>
              </a:rPr>
              <a:t>StandardScaler
+ PCA 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480560"/>
            <a:ext cx="2011680" cy="11887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83480" y="45262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SVM · RF
XGBoost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4480560"/>
            <a:ext cx="2011680" cy="11887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45262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0"/>
                </a:solidFill>
              </a:rPr>
              <a:t>Majority Vote
(subject)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4480560"/>
            <a:ext cx="2011680" cy="118872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555480" y="45262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496B"/>
                </a:solidFill>
              </a:rPr>
              <a:t>Prediction
AD/FTD/HC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754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754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754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4754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6D6A0"/>
                </a:solidFill>
              </a:rPr>
              <a:t>Best: XGBoost — 72.2% subject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Pipeline 2 — CWT Scalogram +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10023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CCCCCC"/>
                </a:solidFill>
              </a:rPr>
              <a:t>CWT scalogram
(19, 60, 1000) tensor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1763" y="1684666"/>
            <a:ext cx="31149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FFFFFF"/>
                </a:solidFill>
              </a:rPr>
              <a:t>• Wavelet: cmor-1.0-1.0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• 60 scales (11 → 500)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• Log compression: 10·log₁₀(|W|+1)</a:t>
            </a:r>
          </a:p>
          <a:p>
            <a:pPr algn="l"/>
            <a:r>
              <a:rPr sz="1600" dirty="0">
                <a:solidFill>
                  <a:srgbClr val="FFFFFF"/>
                </a:solidFill>
              </a:rPr>
              <a:t>• 10× time decimation → 1,000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7 Architectures tested: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09071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dirty="0">
                <a:solidFill>
                  <a:srgbClr val="FFFFFF"/>
                </a:solidFill>
              </a:rPr>
              <a:t>• Custom CNN (</a:t>
            </a:r>
            <a:r>
              <a:rPr sz="1500" dirty="0" err="1">
                <a:solidFill>
                  <a:srgbClr val="FFFFFF"/>
                </a:solidFill>
              </a:rPr>
              <a:t>AlexNet</a:t>
            </a:r>
            <a:r>
              <a:rPr sz="1500" dirty="0">
                <a:solidFill>
                  <a:srgbClr val="FFFFFF"/>
                </a:solidFill>
              </a:rPr>
              <a:t>-style)</a:t>
            </a:r>
          </a:p>
          <a:p>
            <a:pPr algn="l"/>
            <a:r>
              <a:rPr sz="1500" dirty="0">
                <a:solidFill>
                  <a:srgbClr val="FFFFFF"/>
                </a:solidFill>
              </a:rPr>
              <a:t>• EfficientNet-B0</a:t>
            </a:r>
          </a:p>
          <a:p>
            <a:pPr algn="l"/>
            <a:r>
              <a:rPr sz="1500" dirty="0">
                <a:solidFill>
                  <a:srgbClr val="FFFFFF"/>
                </a:solidFill>
              </a:rPr>
              <a:t>• ResNet-50 variant</a:t>
            </a:r>
          </a:p>
          <a:p>
            <a:pPr algn="l"/>
            <a:r>
              <a:rPr sz="1500" dirty="0">
                <a:solidFill>
                  <a:srgbClr val="FFFFFF"/>
                </a:solidFill>
              </a:rPr>
              <a:t>• </a:t>
            </a:r>
            <a:r>
              <a:rPr sz="1500" dirty="0" err="1">
                <a:solidFill>
                  <a:srgbClr val="FFFFFF"/>
                </a:solidFill>
              </a:rPr>
              <a:t>DenseNet</a:t>
            </a:r>
            <a:endParaRPr sz="1500" dirty="0">
              <a:solidFill>
                <a:srgbClr val="FFFFFF"/>
              </a:solidFill>
            </a:endParaRPr>
          </a:p>
          <a:p>
            <a:pPr algn="l"/>
            <a:r>
              <a:rPr sz="1500" dirty="0">
                <a:solidFill>
                  <a:srgbClr val="FFFFFF"/>
                </a:solidFill>
              </a:rPr>
              <a:t>• </a:t>
            </a:r>
            <a:r>
              <a:rPr sz="1500" dirty="0" err="1">
                <a:solidFill>
                  <a:srgbClr val="FFFFFF"/>
                </a:solidFill>
              </a:rPr>
              <a:t>ViT</a:t>
            </a:r>
            <a:r>
              <a:rPr sz="1500" dirty="0">
                <a:solidFill>
                  <a:srgbClr val="FFFFFF"/>
                </a:solidFill>
              </a:rPr>
              <a:t> (</a:t>
            </a:r>
            <a:r>
              <a:rPr sz="1500" dirty="0" err="1">
                <a:solidFill>
                  <a:srgbClr val="FFFFFF"/>
                </a:solidFill>
              </a:rPr>
              <a:t>DeiT</a:t>
            </a:r>
            <a:r>
              <a:rPr sz="1500" dirty="0">
                <a:solidFill>
                  <a:srgbClr val="FFFFFF"/>
                </a:solidFill>
              </a:rPr>
              <a:t>-Tiny)</a:t>
            </a:r>
          </a:p>
          <a:p>
            <a:pPr algn="l"/>
            <a:r>
              <a:rPr sz="1500" dirty="0">
                <a:solidFill>
                  <a:srgbClr val="FFFFFF"/>
                </a:solidFill>
              </a:rPr>
              <a:t>• YOLO26s-cls</a:t>
            </a:r>
          </a:p>
          <a:p>
            <a:pPr algn="l"/>
            <a:r>
              <a:rPr sz="1500" dirty="0">
                <a:solidFill>
                  <a:srgbClr val="FFFFFF"/>
                </a:solidFill>
              </a:rPr>
              <a:t>• YOLO26m-cls  ← best single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" y="5306393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37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D600"/>
                </a:solidFill>
              </a:rPr>
              <a:t>★  One-vs-Rest (</a:t>
            </a:r>
            <a:r>
              <a:rPr sz="1800" b="1" i="0" dirty="0" err="1">
                <a:solidFill>
                  <a:srgbClr val="FFD600"/>
                </a:solidFill>
              </a:rPr>
              <a:t>OvR</a:t>
            </a:r>
            <a:r>
              <a:rPr sz="1800" b="1" i="0" dirty="0">
                <a:solidFill>
                  <a:srgbClr val="FFD600"/>
                </a:solidFill>
              </a:rPr>
              <a:t>)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51917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FFFFFF"/>
                </a:solidFill>
              </a:rPr>
              <a:t>• 3 binary YOLO26m-cls models: </a:t>
            </a:r>
            <a:r>
              <a:rPr sz="1600" dirty="0" err="1">
                <a:solidFill>
                  <a:srgbClr val="FFFFFF"/>
                </a:solidFill>
              </a:rPr>
              <a:t>model_AD</a:t>
            </a:r>
            <a:r>
              <a:rPr sz="1600" dirty="0">
                <a:solidFill>
                  <a:srgbClr val="FFFFFF"/>
                </a:solidFill>
              </a:rPr>
              <a:t> · </a:t>
            </a:r>
            <a:r>
              <a:rPr sz="1600" dirty="0" err="1">
                <a:solidFill>
                  <a:srgbClr val="FFFFFF"/>
                </a:solidFill>
              </a:rPr>
              <a:t>model_FTD</a:t>
            </a:r>
            <a:r>
              <a:rPr sz="1600" dirty="0">
                <a:solidFill>
                  <a:srgbClr val="FFFFFF"/>
                </a:solidFill>
              </a:rPr>
              <a:t> · </a:t>
            </a:r>
            <a:r>
              <a:rPr sz="1600" dirty="0" err="1">
                <a:solidFill>
                  <a:srgbClr val="FFFFFF"/>
                </a:solidFill>
              </a:rPr>
              <a:t>model_HC</a:t>
            </a:r>
            <a:endParaRPr sz="1600" dirty="0">
              <a:solidFill>
                <a:srgbClr val="FFFFFF"/>
              </a:solidFill>
            </a:endParaRPr>
          </a:p>
          <a:p>
            <a:pPr algn="l"/>
            <a:r>
              <a:rPr sz="1600" dirty="0">
                <a:solidFill>
                  <a:srgbClr val="FFFFFF"/>
                </a:solidFill>
              </a:rPr>
              <a:t>• Decision = argmax [ P_AD(1),  P_FTD(1),  P_HC(1) ]</a:t>
            </a:r>
          </a:p>
          <a:p>
            <a:r>
              <a:rPr sz="1600" dirty="0">
                <a:solidFill>
                  <a:srgbClr val="FFFFFF"/>
                </a:solidFill>
              </a:rPr>
              <a:t>•</a:t>
            </a:r>
            <a:r>
              <a:rPr lang="tr-TR" sz="1600" dirty="0">
                <a:solidFill>
                  <a:srgbClr val="FFFFFF"/>
                </a:solidFill>
              </a:rPr>
              <a:t> </a:t>
            </a:r>
            <a:r>
              <a:rPr sz="1600" dirty="0">
                <a:solidFill>
                  <a:srgbClr val="FFFFFF"/>
                </a:solidFill>
              </a:rPr>
              <a:t>Threshold </a:t>
            </a:r>
            <a:r>
              <a:rPr sz="1600" dirty="0" err="1">
                <a:solidFill>
                  <a:srgbClr val="FFFFFF"/>
                </a:solidFill>
              </a:rPr>
              <a:t>optimisation</a:t>
            </a:r>
            <a:r>
              <a:rPr sz="1600" dirty="0">
                <a:solidFill>
                  <a:srgbClr val="FFFFFF"/>
                </a:solidFill>
              </a:rPr>
              <a:t> on </a:t>
            </a:r>
            <a:r>
              <a:rPr sz="1600" dirty="0" err="1">
                <a:solidFill>
                  <a:srgbClr val="FFFFFF"/>
                </a:solidFill>
              </a:rPr>
              <a:t>val</a:t>
            </a:r>
            <a:r>
              <a:rPr sz="1600" dirty="0">
                <a:solidFill>
                  <a:srgbClr val="FFFFFF"/>
                </a:solidFill>
              </a:rPr>
              <a:t> set (19³ = 6,859 combos) → 88.89%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251E9-7086-CF5B-0CF1-70EB8AD4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6" y="1005839"/>
            <a:ext cx="4652947" cy="4172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Literature Benchmark — ds004504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1B2A"/>
                          </a:solidFill>
                        </a:rPr>
                        <a:t>Study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1B2A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1B2A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1B2A"/>
                          </a:solidFill>
                        </a:rPr>
                        <a:t>Best Result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DICE-Net [2023]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STFT + Conv-Transformer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~83% Acc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Rostamikia [2024]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Lyapunov + SVM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90.2% Acc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Si et al. [2023]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PLV graph + SVM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89.6% Acc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Ajra et al. [2023]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AEC + Shallow CNN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94.54% Acc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Zheng et al. [2025]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Time-freq FC + SVM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95.4% Acc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Stefanou et al.[2025]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STFT CNN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97.3% Acc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Mlinaric et al.[2026]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Riemannian stacking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Binary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AUC 0.82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★ This work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CWT OvR YOLO26m+Thresh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</a:rPr>
                        <a:t>88.89% Subj.Acc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89320"/>
            <a:ext cx="11612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FFD600"/>
                </a:solidFill>
              </a:rPr>
              <a:t>  Most &gt;90% results use LOSOCV or binary tasks — not directly comparable to our 3-class held-out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Results — All 15 Models (Test 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Classical 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576072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</a:rPr>
                        <a:t>Subj. Acc.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</a:rPr>
                        <a:t>Subj. F1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SVM (RBF, C=10)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52.3%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85.3%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Random Forest (300)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51.6%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76.1%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XGBoost (300, depth 6)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72.2%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64.8%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</a:rPr>
                        <a:t>73.6%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960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Deep Learning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Subj. Acc.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Subj. F1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Custom CNN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72.22%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67.04%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EfficientNet-B0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55.56%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55.31%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ResNet-50 variant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61.11%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59.03%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DenseNet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50.00%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50.00%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ViT (DeiT-Tiny)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61.11%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58.06%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YOLO26s-cls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66.67%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62.38%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YOLO26m-cls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77.78%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77.08%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OvR Baseline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83.33%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82.64%</a:t>
                      </a:r>
                    </a:p>
                  </a:txBody>
                  <a:tcPr>
                    <a:solidFill>
                      <a:srgbClr val="16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★ OvR + Threshold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88.89%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88.77%</a:t>
                      </a:r>
                    </a:p>
                  </a:txBody>
                  <a:tcPr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246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EEGNet: 22.2%  |  ShallowConvNet: 66.7%  |  SpectrogramCNN: 50.0%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Best Model — OvR YOLO26m-cls + Threshold (88.89%)</a:t>
            </a:r>
          </a:p>
        </p:txBody>
      </p:sp>
      <p:pic>
        <p:nvPicPr>
          <p:cNvPr id="3" name="Picture 2" descr="cm_ovr_threshold_su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023360" cy="3200400"/>
          </a:xfrm>
          <a:prstGeom prst="rect">
            <a:avLst/>
          </a:prstGeom>
        </p:spPr>
      </p:pic>
      <p:pic>
        <p:nvPicPr>
          <p:cNvPr id="6" name="Picture 5" descr="all_model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206240"/>
            <a:ext cx="1179576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0" y="31089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CCCCCC"/>
                </a:solidFill>
              </a:rPr>
              <a:t>AD: 7/7 ✓  |  FTD: 4/5  |  HC: 5/6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CCCCCC"/>
                </a:solidFill>
              </a:rPr>
              <a:t>AUC: AD=0.974  FTD=0.723  HC=0.972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477A3D-3D94-9C0B-1A27-FDEB53215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914401"/>
            <a:ext cx="4286048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121889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11612880" cy="3108960"/>
          </a:xfrm>
          <a:prstGeom prst="rect">
            <a:avLst/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• OvR YOLO26m-cls + Threshold → 88.89% subject accuracy, 88.77% F1  (best, 3-class held-out)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OvR decomposition alone: +5.5% over single YOLO26m; threshold tuning adds further +5.6%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XGBoost on 1,805 hand-crafted features: 72.2% — competitive &amp; fully interpretable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FTD is hardest class across all models (recall 34–40%) — consistent with all literature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Strict 70/10/20 held-out split → clinically valid, leakage-free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51960"/>
            <a:ext cx="11274552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• Scalogram mixup / time-warping augmentation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Grad-CAM explainability maps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Aperiodic EEG components (FOOOF)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Recurrence complexity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96B"/>
                </a:solidFill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8006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• Only 17 test subjects → limited statistical power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EEGNet poorly suited to 20-s multi-class epochs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LOSOCV papers not directly comparable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1034</Words>
  <Application>Microsoft Office PowerPoint</Application>
  <PresentationFormat>Custom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Gaje</dc:creator>
  <cp:keywords/>
  <dc:description>generated using python-pptx</dc:description>
  <cp:lastModifiedBy>AMMAR OMAR</cp:lastModifiedBy>
  <cp:revision>3</cp:revision>
  <dcterms:created xsi:type="dcterms:W3CDTF">2013-01-27T09:14:16Z</dcterms:created>
  <dcterms:modified xsi:type="dcterms:W3CDTF">2026-06-21T20:12:20Z</dcterms:modified>
  <cp:category/>
</cp:coreProperties>
</file>